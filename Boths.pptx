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70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CD7F5-47FC-4A07-9507-F2E30ED5EE8C}" v="4" dt="2026-08-31T13:10:06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 sanka" userId="adb74a14f0bf83b9" providerId="LiveId" clId="{79A1E70E-C586-425B-8E02-AE00CCE56068}"/>
    <pc:docChg chg="undo custSel addSld delSld modSld sldOrd">
      <pc:chgData name="varshith sanka" userId="adb74a14f0bf83b9" providerId="LiveId" clId="{79A1E70E-C586-425B-8E02-AE00CCE56068}" dt="2026-08-31T13:11:08.581" v="897" actId="20577"/>
      <pc:docMkLst>
        <pc:docMk/>
      </pc:docMkLst>
      <pc:sldChg chg="addSp delSp modSp mod delDesignElem">
        <pc:chgData name="varshith sanka" userId="adb74a14f0bf83b9" providerId="LiveId" clId="{79A1E70E-C586-425B-8E02-AE00CCE56068}" dt="2026-08-31T13:10:06.405" v="875"/>
        <pc:sldMkLst>
          <pc:docMk/>
          <pc:sldMk cId="1769487753" sldId="260"/>
        </pc:sldMkLst>
        <pc:spChg chg="mod">
          <ac:chgData name="varshith sanka" userId="adb74a14f0bf83b9" providerId="LiveId" clId="{79A1E70E-C586-425B-8E02-AE00CCE56068}" dt="2026-08-31T13:10:06.405" v="875"/>
          <ac:spMkLst>
            <pc:docMk/>
            <pc:sldMk cId="1769487753" sldId="260"/>
            <ac:spMk id="3" creationId="{C4CE7D94-A5C2-1C11-386D-F16BE40DB807}"/>
          </ac:spMkLst>
        </pc:spChg>
      </pc:sldChg>
      <pc:sldChg chg="modSp mod">
        <pc:chgData name="varshith sanka" userId="adb74a14f0bf83b9" providerId="LiveId" clId="{79A1E70E-C586-425B-8E02-AE00CCE56068}" dt="2026-08-31T13:11:08.581" v="897" actId="20577"/>
        <pc:sldMkLst>
          <pc:docMk/>
          <pc:sldMk cId="3057556837" sldId="269"/>
        </pc:sldMkLst>
        <pc:graphicFrameChg chg="modGraphic">
          <ac:chgData name="varshith sanka" userId="adb74a14f0bf83b9" providerId="LiveId" clId="{79A1E70E-C586-425B-8E02-AE00CCE56068}" dt="2026-08-31T13:11:08.581" v="897" actId="20577"/>
          <ac:graphicFrameMkLst>
            <pc:docMk/>
            <pc:sldMk cId="3057556837" sldId="269"/>
            <ac:graphicFrameMk id="8" creationId="{803A8C15-1560-7C10-BBBF-F2FBFD1B38F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7B3B3F-83CE-43AC-9427-815091D14E44}" type="doc">
      <dgm:prSet loTypeId="urn:microsoft.com/office/officeart/2005/8/layout/vProcess5" loCatId="process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86C6B982-9468-48F8-A81E-90E0DB7E204B}">
      <dgm:prSet/>
      <dgm:spPr/>
      <dgm:t>
        <a:bodyPr/>
        <a:lstStyle/>
        <a:p>
          <a:r>
            <a:rPr lang="en-US" b="1"/>
            <a:t>1. Network Implementation:  </a:t>
          </a:r>
          <a:r>
            <a:rPr lang="en-US"/>
            <a:t>Code for the SD-D, SD-I3A, and Fusion modules.</a:t>
          </a:r>
        </a:p>
      </dgm:t>
    </dgm:pt>
    <dgm:pt modelId="{339DB76C-073A-42FD-B17E-A13ADB0C8F39}" type="parTrans" cxnId="{F635256A-0D80-49F5-BCE4-5EAA831BC4A2}">
      <dgm:prSet/>
      <dgm:spPr/>
      <dgm:t>
        <a:bodyPr/>
        <a:lstStyle/>
        <a:p>
          <a:endParaRPr lang="en-US"/>
        </a:p>
      </dgm:t>
    </dgm:pt>
    <dgm:pt modelId="{4D5E1853-C210-4332-B351-D84B41330DCB}" type="sibTrans" cxnId="{F635256A-0D80-49F5-BCE4-5EAA831BC4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407D69-B2EA-4B09-B62D-CBC79941AA8A}">
      <dgm:prSet/>
      <dgm:spPr/>
      <dgm:t>
        <a:bodyPr/>
        <a:lstStyle/>
        <a:p>
          <a:r>
            <a:rPr lang="en-US" b="1"/>
            <a:t>2. Custom Loss Function:</a:t>
          </a:r>
          <a:r>
            <a:rPr lang="en-US"/>
            <a:t> Implementation of the DWT-based Wavelet MSE Loss and the two-stage asynchronous training loop.</a:t>
          </a:r>
        </a:p>
      </dgm:t>
    </dgm:pt>
    <dgm:pt modelId="{F17DC654-5870-4979-A9E3-E81904827277}" type="parTrans" cxnId="{EB726648-B4C9-4CB4-BE88-0C477B01214B}">
      <dgm:prSet/>
      <dgm:spPr/>
      <dgm:t>
        <a:bodyPr/>
        <a:lstStyle/>
        <a:p>
          <a:endParaRPr lang="en-US"/>
        </a:p>
      </dgm:t>
    </dgm:pt>
    <dgm:pt modelId="{799A2F66-8EC6-4FDE-BB30-16158C7A8642}" type="sibTrans" cxnId="{EB726648-B4C9-4CB4-BE88-0C477B01214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8775D7-52B2-4483-A049-7BF7DA2C9840}">
      <dgm:prSet/>
      <dgm:spPr/>
      <dgm:t>
        <a:bodyPr/>
        <a:lstStyle/>
        <a:p>
          <a:r>
            <a:rPr lang="en-US" b="1"/>
            <a:t>3. Trained Weights:</a:t>
          </a:r>
          <a:r>
            <a:rPr lang="en-US"/>
            <a:t> A fully trained, super-lightweight model checkpoint.</a:t>
          </a:r>
        </a:p>
      </dgm:t>
    </dgm:pt>
    <dgm:pt modelId="{3348EBC5-D911-440D-95EB-475EC460B2BF}" type="parTrans" cxnId="{CAA21129-A95B-4335-A721-F2218886821B}">
      <dgm:prSet/>
      <dgm:spPr/>
      <dgm:t>
        <a:bodyPr/>
        <a:lstStyle/>
        <a:p>
          <a:endParaRPr lang="en-US"/>
        </a:p>
      </dgm:t>
    </dgm:pt>
    <dgm:pt modelId="{989918A6-CA7A-4C76-B86A-C22288FD46CA}" type="sibTrans" cxnId="{CAA21129-A95B-4335-A721-F221888682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511947-176A-4420-A20E-42D8A984354D}">
      <dgm:prSet/>
      <dgm:spPr/>
      <dgm:t>
        <a:bodyPr/>
        <a:lstStyle/>
        <a:p>
          <a:r>
            <a:rPr lang="en-US" b="1"/>
            <a:t>4. Evaluation Pipeline:</a:t>
          </a:r>
          <a:r>
            <a:rPr lang="en-US"/>
            <a:t> Scripts to benchmark the model against standard metrics.</a:t>
          </a:r>
        </a:p>
      </dgm:t>
    </dgm:pt>
    <dgm:pt modelId="{54F5D095-E7EB-481C-B4E2-185526AF2C20}" type="parTrans" cxnId="{5693F94C-CE7E-4ACD-9C55-C8594733BEFC}">
      <dgm:prSet/>
      <dgm:spPr/>
      <dgm:t>
        <a:bodyPr/>
        <a:lstStyle/>
        <a:p>
          <a:endParaRPr lang="en-US"/>
        </a:p>
      </dgm:t>
    </dgm:pt>
    <dgm:pt modelId="{FBC7CEEB-FB3A-4356-AAAA-50B64F3FA8DA}" type="sibTrans" cxnId="{5693F94C-CE7E-4ACD-9C55-C8594733BEFC}">
      <dgm:prSet/>
      <dgm:spPr/>
      <dgm:t>
        <a:bodyPr/>
        <a:lstStyle/>
        <a:p>
          <a:endParaRPr lang="en-US"/>
        </a:p>
      </dgm:t>
    </dgm:pt>
    <dgm:pt modelId="{44959E2A-C6D5-4D8F-A76B-EF5EF92E8C45}" type="pres">
      <dgm:prSet presAssocID="{F27B3B3F-83CE-43AC-9427-815091D14E44}" presName="outerComposite" presStyleCnt="0">
        <dgm:presLayoutVars>
          <dgm:chMax val="5"/>
          <dgm:dir/>
          <dgm:resizeHandles val="exact"/>
        </dgm:presLayoutVars>
      </dgm:prSet>
      <dgm:spPr/>
    </dgm:pt>
    <dgm:pt modelId="{47584A37-4018-4AC9-82F3-AD7A498B06E1}" type="pres">
      <dgm:prSet presAssocID="{F27B3B3F-83CE-43AC-9427-815091D14E44}" presName="dummyMaxCanvas" presStyleCnt="0">
        <dgm:presLayoutVars/>
      </dgm:prSet>
      <dgm:spPr/>
    </dgm:pt>
    <dgm:pt modelId="{63B447B4-18E6-4135-BC86-6B70B69D510E}" type="pres">
      <dgm:prSet presAssocID="{F27B3B3F-83CE-43AC-9427-815091D14E44}" presName="FourNodes_1" presStyleLbl="node1" presStyleIdx="0" presStyleCnt="4">
        <dgm:presLayoutVars>
          <dgm:bulletEnabled val="1"/>
        </dgm:presLayoutVars>
      </dgm:prSet>
      <dgm:spPr/>
    </dgm:pt>
    <dgm:pt modelId="{6FF6BBB8-B271-4322-BA9F-7684F814D098}" type="pres">
      <dgm:prSet presAssocID="{F27B3B3F-83CE-43AC-9427-815091D14E44}" presName="FourNodes_2" presStyleLbl="node1" presStyleIdx="1" presStyleCnt="4">
        <dgm:presLayoutVars>
          <dgm:bulletEnabled val="1"/>
        </dgm:presLayoutVars>
      </dgm:prSet>
      <dgm:spPr/>
    </dgm:pt>
    <dgm:pt modelId="{22ABD0BC-D607-47C0-9019-0E241F66C564}" type="pres">
      <dgm:prSet presAssocID="{F27B3B3F-83CE-43AC-9427-815091D14E44}" presName="FourNodes_3" presStyleLbl="node1" presStyleIdx="2" presStyleCnt="4">
        <dgm:presLayoutVars>
          <dgm:bulletEnabled val="1"/>
        </dgm:presLayoutVars>
      </dgm:prSet>
      <dgm:spPr/>
    </dgm:pt>
    <dgm:pt modelId="{59DD54B9-0824-44B9-AC33-EC1930931ADC}" type="pres">
      <dgm:prSet presAssocID="{F27B3B3F-83CE-43AC-9427-815091D14E44}" presName="FourNodes_4" presStyleLbl="node1" presStyleIdx="3" presStyleCnt="4">
        <dgm:presLayoutVars>
          <dgm:bulletEnabled val="1"/>
        </dgm:presLayoutVars>
      </dgm:prSet>
      <dgm:spPr/>
    </dgm:pt>
    <dgm:pt modelId="{EC6420AA-4605-47F0-B909-CF6DBE2B09C5}" type="pres">
      <dgm:prSet presAssocID="{F27B3B3F-83CE-43AC-9427-815091D14E44}" presName="FourConn_1-2" presStyleLbl="fgAccFollowNode1" presStyleIdx="0" presStyleCnt="3">
        <dgm:presLayoutVars>
          <dgm:bulletEnabled val="1"/>
        </dgm:presLayoutVars>
      </dgm:prSet>
      <dgm:spPr/>
    </dgm:pt>
    <dgm:pt modelId="{64B5BA5E-B321-46D1-8CF3-A51C34C0AC33}" type="pres">
      <dgm:prSet presAssocID="{F27B3B3F-83CE-43AC-9427-815091D14E44}" presName="FourConn_2-3" presStyleLbl="fgAccFollowNode1" presStyleIdx="1" presStyleCnt="3">
        <dgm:presLayoutVars>
          <dgm:bulletEnabled val="1"/>
        </dgm:presLayoutVars>
      </dgm:prSet>
      <dgm:spPr/>
    </dgm:pt>
    <dgm:pt modelId="{6CD1B645-255A-4FEA-8B25-8DE8ECDE4772}" type="pres">
      <dgm:prSet presAssocID="{F27B3B3F-83CE-43AC-9427-815091D14E44}" presName="FourConn_3-4" presStyleLbl="fgAccFollowNode1" presStyleIdx="2" presStyleCnt="3">
        <dgm:presLayoutVars>
          <dgm:bulletEnabled val="1"/>
        </dgm:presLayoutVars>
      </dgm:prSet>
      <dgm:spPr/>
    </dgm:pt>
    <dgm:pt modelId="{810EAEF7-2C43-4FB3-8F65-047B313332EE}" type="pres">
      <dgm:prSet presAssocID="{F27B3B3F-83CE-43AC-9427-815091D14E44}" presName="FourNodes_1_text" presStyleLbl="node1" presStyleIdx="3" presStyleCnt="4">
        <dgm:presLayoutVars>
          <dgm:bulletEnabled val="1"/>
        </dgm:presLayoutVars>
      </dgm:prSet>
      <dgm:spPr/>
    </dgm:pt>
    <dgm:pt modelId="{26678519-F122-4E28-A36E-D6029BAF5FBF}" type="pres">
      <dgm:prSet presAssocID="{F27B3B3F-83CE-43AC-9427-815091D14E44}" presName="FourNodes_2_text" presStyleLbl="node1" presStyleIdx="3" presStyleCnt="4">
        <dgm:presLayoutVars>
          <dgm:bulletEnabled val="1"/>
        </dgm:presLayoutVars>
      </dgm:prSet>
      <dgm:spPr/>
    </dgm:pt>
    <dgm:pt modelId="{AC81D325-3C62-4D3E-AAF1-1A36E753A66A}" type="pres">
      <dgm:prSet presAssocID="{F27B3B3F-83CE-43AC-9427-815091D14E44}" presName="FourNodes_3_text" presStyleLbl="node1" presStyleIdx="3" presStyleCnt="4">
        <dgm:presLayoutVars>
          <dgm:bulletEnabled val="1"/>
        </dgm:presLayoutVars>
      </dgm:prSet>
      <dgm:spPr/>
    </dgm:pt>
    <dgm:pt modelId="{85B87F34-AD75-4CDF-82B6-28BC729FCE21}" type="pres">
      <dgm:prSet presAssocID="{F27B3B3F-83CE-43AC-9427-815091D14E4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66BC902-DF85-4ECC-9B2C-DFB60412E4D5}" type="presOf" srcId="{8A511947-176A-4420-A20E-42D8A984354D}" destId="{59DD54B9-0824-44B9-AC33-EC1930931ADC}" srcOrd="0" destOrd="0" presId="urn:microsoft.com/office/officeart/2005/8/layout/vProcess5"/>
    <dgm:cxn modelId="{B78F2C13-74FA-4EF7-8347-31C86EE00B78}" type="presOf" srcId="{86C6B982-9468-48F8-A81E-90E0DB7E204B}" destId="{810EAEF7-2C43-4FB3-8F65-047B313332EE}" srcOrd="1" destOrd="0" presId="urn:microsoft.com/office/officeart/2005/8/layout/vProcess5"/>
    <dgm:cxn modelId="{47E71C21-CCDE-4496-97C3-C74A880BC88E}" type="presOf" srcId="{86C6B982-9468-48F8-A81E-90E0DB7E204B}" destId="{63B447B4-18E6-4135-BC86-6B70B69D510E}" srcOrd="0" destOrd="0" presId="urn:microsoft.com/office/officeart/2005/8/layout/vProcess5"/>
    <dgm:cxn modelId="{A6E80525-9D15-4BE3-92AE-B1EC874518A0}" type="presOf" srcId="{DE8775D7-52B2-4483-A049-7BF7DA2C9840}" destId="{AC81D325-3C62-4D3E-AAF1-1A36E753A66A}" srcOrd="1" destOrd="0" presId="urn:microsoft.com/office/officeart/2005/8/layout/vProcess5"/>
    <dgm:cxn modelId="{CAA21129-A95B-4335-A721-F2218886821B}" srcId="{F27B3B3F-83CE-43AC-9427-815091D14E44}" destId="{DE8775D7-52B2-4483-A049-7BF7DA2C9840}" srcOrd="2" destOrd="0" parTransId="{3348EBC5-D911-440D-95EB-475EC460B2BF}" sibTransId="{989918A6-CA7A-4C76-B86A-C22288FD46CA}"/>
    <dgm:cxn modelId="{AB6B7763-D5A6-4AEE-B5E1-BA827EBC41AF}" type="presOf" srcId="{799A2F66-8EC6-4FDE-BB30-16158C7A8642}" destId="{64B5BA5E-B321-46D1-8CF3-A51C34C0AC33}" srcOrd="0" destOrd="0" presId="urn:microsoft.com/office/officeart/2005/8/layout/vProcess5"/>
    <dgm:cxn modelId="{EB726648-B4C9-4CB4-BE88-0C477B01214B}" srcId="{F27B3B3F-83CE-43AC-9427-815091D14E44}" destId="{3F407D69-B2EA-4B09-B62D-CBC79941AA8A}" srcOrd="1" destOrd="0" parTransId="{F17DC654-5870-4979-A9E3-E81904827277}" sibTransId="{799A2F66-8EC6-4FDE-BB30-16158C7A8642}"/>
    <dgm:cxn modelId="{F635256A-0D80-49F5-BCE4-5EAA831BC4A2}" srcId="{F27B3B3F-83CE-43AC-9427-815091D14E44}" destId="{86C6B982-9468-48F8-A81E-90E0DB7E204B}" srcOrd="0" destOrd="0" parTransId="{339DB76C-073A-42FD-B17E-A13ADB0C8F39}" sibTransId="{4D5E1853-C210-4332-B351-D84B41330DCB}"/>
    <dgm:cxn modelId="{5693F94C-CE7E-4ACD-9C55-C8594733BEFC}" srcId="{F27B3B3F-83CE-43AC-9427-815091D14E44}" destId="{8A511947-176A-4420-A20E-42D8A984354D}" srcOrd="3" destOrd="0" parTransId="{54F5D095-E7EB-481C-B4E2-185526AF2C20}" sibTransId="{FBC7CEEB-FB3A-4356-AAAA-50B64F3FA8DA}"/>
    <dgm:cxn modelId="{18376654-4705-49FD-9977-F88AF27872FE}" type="presOf" srcId="{989918A6-CA7A-4C76-B86A-C22288FD46CA}" destId="{6CD1B645-255A-4FEA-8B25-8DE8ECDE4772}" srcOrd="0" destOrd="0" presId="urn:microsoft.com/office/officeart/2005/8/layout/vProcess5"/>
    <dgm:cxn modelId="{4F21B78D-1C34-4211-9C3F-139D2C965E03}" type="presOf" srcId="{DE8775D7-52B2-4483-A049-7BF7DA2C9840}" destId="{22ABD0BC-D607-47C0-9019-0E241F66C564}" srcOrd="0" destOrd="0" presId="urn:microsoft.com/office/officeart/2005/8/layout/vProcess5"/>
    <dgm:cxn modelId="{062181AD-4534-4F50-896D-5180F6126EBF}" type="presOf" srcId="{F27B3B3F-83CE-43AC-9427-815091D14E44}" destId="{44959E2A-C6D5-4D8F-A76B-EF5EF92E8C45}" srcOrd="0" destOrd="0" presId="urn:microsoft.com/office/officeart/2005/8/layout/vProcess5"/>
    <dgm:cxn modelId="{CB98A9D2-3ED2-4396-A84E-975635CB2795}" type="presOf" srcId="{4D5E1853-C210-4332-B351-D84B41330DCB}" destId="{EC6420AA-4605-47F0-B909-CF6DBE2B09C5}" srcOrd="0" destOrd="0" presId="urn:microsoft.com/office/officeart/2005/8/layout/vProcess5"/>
    <dgm:cxn modelId="{31B2FAFB-4BAE-474E-9A12-40A5A0161F47}" type="presOf" srcId="{3F407D69-B2EA-4B09-B62D-CBC79941AA8A}" destId="{26678519-F122-4E28-A36E-D6029BAF5FBF}" srcOrd="1" destOrd="0" presId="urn:microsoft.com/office/officeart/2005/8/layout/vProcess5"/>
    <dgm:cxn modelId="{7C272DFD-B9C1-40AF-A2D4-D6C6EF94793B}" type="presOf" srcId="{8A511947-176A-4420-A20E-42D8A984354D}" destId="{85B87F34-AD75-4CDF-82B6-28BC729FCE21}" srcOrd="1" destOrd="0" presId="urn:microsoft.com/office/officeart/2005/8/layout/vProcess5"/>
    <dgm:cxn modelId="{2B0942FE-804C-4845-B131-F0B7901A99DD}" type="presOf" srcId="{3F407D69-B2EA-4B09-B62D-CBC79941AA8A}" destId="{6FF6BBB8-B271-4322-BA9F-7684F814D098}" srcOrd="0" destOrd="0" presId="urn:microsoft.com/office/officeart/2005/8/layout/vProcess5"/>
    <dgm:cxn modelId="{212AD81A-4422-419F-85D9-DCE9C1A617CA}" type="presParOf" srcId="{44959E2A-C6D5-4D8F-A76B-EF5EF92E8C45}" destId="{47584A37-4018-4AC9-82F3-AD7A498B06E1}" srcOrd="0" destOrd="0" presId="urn:microsoft.com/office/officeart/2005/8/layout/vProcess5"/>
    <dgm:cxn modelId="{A4AE3741-FC90-48C2-A74F-0BA5506C4430}" type="presParOf" srcId="{44959E2A-C6D5-4D8F-A76B-EF5EF92E8C45}" destId="{63B447B4-18E6-4135-BC86-6B70B69D510E}" srcOrd="1" destOrd="0" presId="urn:microsoft.com/office/officeart/2005/8/layout/vProcess5"/>
    <dgm:cxn modelId="{12270353-480C-433E-9A68-04DC84DCF345}" type="presParOf" srcId="{44959E2A-C6D5-4D8F-A76B-EF5EF92E8C45}" destId="{6FF6BBB8-B271-4322-BA9F-7684F814D098}" srcOrd="2" destOrd="0" presId="urn:microsoft.com/office/officeart/2005/8/layout/vProcess5"/>
    <dgm:cxn modelId="{CBB43DF2-CB18-494B-88C1-3AFD827FCEC7}" type="presParOf" srcId="{44959E2A-C6D5-4D8F-A76B-EF5EF92E8C45}" destId="{22ABD0BC-D607-47C0-9019-0E241F66C564}" srcOrd="3" destOrd="0" presId="urn:microsoft.com/office/officeart/2005/8/layout/vProcess5"/>
    <dgm:cxn modelId="{B5083408-56DC-4ECC-AAD5-3C382EC9CE37}" type="presParOf" srcId="{44959E2A-C6D5-4D8F-A76B-EF5EF92E8C45}" destId="{59DD54B9-0824-44B9-AC33-EC1930931ADC}" srcOrd="4" destOrd="0" presId="urn:microsoft.com/office/officeart/2005/8/layout/vProcess5"/>
    <dgm:cxn modelId="{AA5D2F1D-FA13-4861-AC74-E94F4BE3B991}" type="presParOf" srcId="{44959E2A-C6D5-4D8F-A76B-EF5EF92E8C45}" destId="{EC6420AA-4605-47F0-B909-CF6DBE2B09C5}" srcOrd="5" destOrd="0" presId="urn:microsoft.com/office/officeart/2005/8/layout/vProcess5"/>
    <dgm:cxn modelId="{7DBB3F1C-6976-4F03-850C-1523BC82278C}" type="presParOf" srcId="{44959E2A-C6D5-4D8F-A76B-EF5EF92E8C45}" destId="{64B5BA5E-B321-46D1-8CF3-A51C34C0AC33}" srcOrd="6" destOrd="0" presId="urn:microsoft.com/office/officeart/2005/8/layout/vProcess5"/>
    <dgm:cxn modelId="{EBA5BD3D-2A62-41B2-850D-75A9E438AF23}" type="presParOf" srcId="{44959E2A-C6D5-4D8F-A76B-EF5EF92E8C45}" destId="{6CD1B645-255A-4FEA-8B25-8DE8ECDE4772}" srcOrd="7" destOrd="0" presId="urn:microsoft.com/office/officeart/2005/8/layout/vProcess5"/>
    <dgm:cxn modelId="{40361AD0-6A7F-4B07-93A6-78C25103360B}" type="presParOf" srcId="{44959E2A-C6D5-4D8F-A76B-EF5EF92E8C45}" destId="{810EAEF7-2C43-4FB3-8F65-047B313332EE}" srcOrd="8" destOrd="0" presId="urn:microsoft.com/office/officeart/2005/8/layout/vProcess5"/>
    <dgm:cxn modelId="{3D3B577C-D6E9-4A9C-8948-5E53889565ED}" type="presParOf" srcId="{44959E2A-C6D5-4D8F-A76B-EF5EF92E8C45}" destId="{26678519-F122-4E28-A36E-D6029BAF5FBF}" srcOrd="9" destOrd="0" presId="urn:microsoft.com/office/officeart/2005/8/layout/vProcess5"/>
    <dgm:cxn modelId="{333E8A09-59FA-487B-9700-ECD778C4A177}" type="presParOf" srcId="{44959E2A-C6D5-4D8F-A76B-EF5EF92E8C45}" destId="{AC81D325-3C62-4D3E-AAF1-1A36E753A66A}" srcOrd="10" destOrd="0" presId="urn:microsoft.com/office/officeart/2005/8/layout/vProcess5"/>
    <dgm:cxn modelId="{D1E15E1A-934E-43A6-9150-6DC92F385918}" type="presParOf" srcId="{44959E2A-C6D5-4D8F-A76B-EF5EF92E8C45}" destId="{85B87F34-AD75-4CDF-82B6-28BC729FCE2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447B4-18E6-4135-BC86-6B70B69D510E}">
      <dsp:nvSpPr>
        <dsp:cNvPr id="0" name=""/>
        <dsp:cNvSpPr/>
      </dsp:nvSpPr>
      <dsp:spPr>
        <a:xfrm>
          <a:off x="0" y="0"/>
          <a:ext cx="5257800" cy="12293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1. Network Implementation:  </a:t>
          </a:r>
          <a:r>
            <a:rPr lang="en-US" sz="1800" kern="1200"/>
            <a:t>Code for the SD-D, SD-I3A, and Fusion modules.</a:t>
          </a:r>
        </a:p>
      </dsp:txBody>
      <dsp:txXfrm>
        <a:off x="36007" y="36007"/>
        <a:ext cx="3827343" cy="1157346"/>
      </dsp:txXfrm>
    </dsp:sp>
    <dsp:sp modelId="{6FF6BBB8-B271-4322-BA9F-7684F814D098}">
      <dsp:nvSpPr>
        <dsp:cNvPr id="0" name=""/>
        <dsp:cNvSpPr/>
      </dsp:nvSpPr>
      <dsp:spPr>
        <a:xfrm>
          <a:off x="440340" y="1452880"/>
          <a:ext cx="5257800" cy="1229360"/>
        </a:xfrm>
        <a:prstGeom prst="roundRect">
          <a:avLst>
            <a:gd name="adj" fmla="val 10000"/>
          </a:avLst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2. Custom Loss Function:</a:t>
          </a:r>
          <a:r>
            <a:rPr lang="en-US" sz="1800" kern="1200"/>
            <a:t> Implementation of the DWT-based Wavelet MSE Loss and the two-stage asynchronous training loop.</a:t>
          </a:r>
        </a:p>
      </dsp:txBody>
      <dsp:txXfrm>
        <a:off x="476347" y="1488887"/>
        <a:ext cx="3946361" cy="1157346"/>
      </dsp:txXfrm>
    </dsp:sp>
    <dsp:sp modelId="{22ABD0BC-D607-47C0-9019-0E241F66C564}">
      <dsp:nvSpPr>
        <dsp:cNvPr id="0" name=""/>
        <dsp:cNvSpPr/>
      </dsp:nvSpPr>
      <dsp:spPr>
        <a:xfrm>
          <a:off x="874109" y="2905760"/>
          <a:ext cx="5257800" cy="1229360"/>
        </a:xfrm>
        <a:prstGeom prst="roundRect">
          <a:avLst>
            <a:gd name="adj" fmla="val 10000"/>
          </a:avLst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3. Trained Weights:</a:t>
          </a:r>
          <a:r>
            <a:rPr lang="en-US" sz="1800" kern="1200"/>
            <a:t> A fully trained, super-lightweight model checkpoint.</a:t>
          </a:r>
        </a:p>
      </dsp:txBody>
      <dsp:txXfrm>
        <a:off x="910116" y="2941767"/>
        <a:ext cx="3952933" cy="1157346"/>
      </dsp:txXfrm>
    </dsp:sp>
    <dsp:sp modelId="{59DD54B9-0824-44B9-AC33-EC1930931ADC}">
      <dsp:nvSpPr>
        <dsp:cNvPr id="0" name=""/>
        <dsp:cNvSpPr/>
      </dsp:nvSpPr>
      <dsp:spPr>
        <a:xfrm>
          <a:off x="1314449" y="4358640"/>
          <a:ext cx="5257800" cy="1229360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4. Evaluation Pipeline:</a:t>
          </a:r>
          <a:r>
            <a:rPr lang="en-US" sz="1800" kern="1200"/>
            <a:t> Scripts to benchmark the model against standard metrics.</a:t>
          </a:r>
        </a:p>
      </dsp:txBody>
      <dsp:txXfrm>
        <a:off x="1350456" y="4394647"/>
        <a:ext cx="3946361" cy="1157346"/>
      </dsp:txXfrm>
    </dsp:sp>
    <dsp:sp modelId="{EC6420AA-4605-47F0-B909-CF6DBE2B09C5}">
      <dsp:nvSpPr>
        <dsp:cNvPr id="0" name=""/>
        <dsp:cNvSpPr/>
      </dsp:nvSpPr>
      <dsp:spPr>
        <a:xfrm>
          <a:off x="4458716" y="941578"/>
          <a:ext cx="799084" cy="7990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4638510" y="941578"/>
        <a:ext cx="439496" cy="601311"/>
      </dsp:txXfrm>
    </dsp:sp>
    <dsp:sp modelId="{64B5BA5E-B321-46D1-8CF3-A51C34C0AC33}">
      <dsp:nvSpPr>
        <dsp:cNvPr id="0" name=""/>
        <dsp:cNvSpPr/>
      </dsp:nvSpPr>
      <dsp:spPr>
        <a:xfrm>
          <a:off x="4899056" y="2394458"/>
          <a:ext cx="799084" cy="7990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078850" y="2394458"/>
        <a:ext cx="439496" cy="601311"/>
      </dsp:txXfrm>
    </dsp:sp>
    <dsp:sp modelId="{6CD1B645-255A-4FEA-8B25-8DE8ECDE4772}">
      <dsp:nvSpPr>
        <dsp:cNvPr id="0" name=""/>
        <dsp:cNvSpPr/>
      </dsp:nvSpPr>
      <dsp:spPr>
        <a:xfrm>
          <a:off x="5332825" y="3847338"/>
          <a:ext cx="799084" cy="7990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512619" y="3847338"/>
        <a:ext cx="439496" cy="6013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AA0BD-BDBD-4366-BD74-BD5D0C605EB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411B7-216B-4D17-BCFA-AA9B706AB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20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411B7-216B-4D17-BCFA-AA9B706AB69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396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55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68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82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8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98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70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81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24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26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68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315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DB51-A745-A525-1ED4-A7402F68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491B2-58BD-9E73-A59A-DC463414A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D2473-B7ED-DFEA-2948-F125FABFD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72BCF-A5FD-512C-279A-DD27129C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3BED-BBBA-AF82-B185-7065BB6A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11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991316F-99E0-4BF1-BFC8-FDD481410AB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0991A25-08EF-45F0-836F-2840AFCF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6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E569-C976-8E46-6C66-B292BD63F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"Boths": A Super Lightweight Network for Underwater Image Enhancement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9CBDF-42A6-3EF3-AFDE-38CE4688D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Deep Learning Lab Project Proposal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C52DD-B70F-70A5-DC09-4C3787C53FB9}"/>
              </a:ext>
            </a:extLst>
          </p:cNvPr>
          <p:cNvSpPr txBox="1"/>
          <p:nvPr/>
        </p:nvSpPr>
        <p:spPr>
          <a:xfrm>
            <a:off x="5606457" y="510675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Sanka Hema Naga Sri Varshith(230150023)</a:t>
            </a:r>
          </a:p>
        </p:txBody>
      </p:sp>
    </p:spTree>
    <p:extLst>
      <p:ext uri="{BB962C8B-B14F-4D97-AF65-F5344CB8AC3E}">
        <p14:creationId xmlns:p14="http://schemas.microsoft.com/office/powerpoint/2010/main" val="268423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9B977-962B-1FD1-5F47-8AEFD4477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The Challenge of Underwater 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AC5CC-FA55-1116-299B-B749703C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3780" y="599768"/>
            <a:ext cx="6074467" cy="55724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Context: </a:t>
            </a:r>
            <a:r>
              <a:rPr lang="en-US"/>
              <a:t>Remotely Operated Vehicles (ROVs) are critical for marine exploration, archeology, and deep-sea target detection.</a:t>
            </a:r>
          </a:p>
          <a:p>
            <a:r>
              <a:rPr lang="en-US" b="1"/>
              <a:t>The Core Issues:</a:t>
            </a:r>
          </a:p>
          <a:p>
            <a:pPr marL="0"/>
            <a:r>
              <a:rPr lang="en-US"/>
              <a:t>	</a:t>
            </a:r>
            <a:r>
              <a:rPr lang="en-US" b="1"/>
              <a:t>Color Shift:</a:t>
            </a:r>
            <a:r>
              <a:rPr lang="en-US"/>
              <a:t> Red light attenuates much faster than blue or green light in water.</a:t>
            </a:r>
          </a:p>
          <a:p>
            <a:pPr marL="0"/>
            <a:r>
              <a:rPr lang="en-US"/>
              <a:t>	</a:t>
            </a:r>
            <a:r>
              <a:rPr lang="en-US" b="1"/>
              <a:t>Haze &amp; Blur:</a:t>
            </a:r>
            <a:r>
              <a:rPr lang="en-US"/>
              <a:t> Suspended particles absorb and scatter light energy.</a:t>
            </a:r>
          </a:p>
          <a:p>
            <a:r>
              <a:rPr lang="en-US" b="1"/>
              <a:t>The Impact:</a:t>
            </a:r>
            <a:r>
              <a:rPr lang="en-US"/>
              <a:t> This complex degradation severely impedes the navigation and operational capabilities of visually guided ROVs.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81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2" y="822324"/>
            <a:ext cx="5149596" cy="5228279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3343B-335D-6801-0D70-B2D52A21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465790"/>
            <a:ext cx="3860798" cy="39413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/>
              <a:t>Limitations of Current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B1CAD-EA20-E8B4-48F7-4C5CDB678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7733" y="1359090"/>
            <a:ext cx="5132665" cy="40480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 dirty="0"/>
              <a:t>Prior-Driven Methods </a:t>
            </a:r>
            <a:r>
              <a:rPr lang="en-US" sz="1700" dirty="0"/>
              <a:t>(e.g., MAMF, </a:t>
            </a:r>
            <a:r>
              <a:rPr lang="en-US" sz="1700" dirty="0" err="1"/>
              <a:t>etc</a:t>
            </a:r>
            <a:r>
              <a:rPr lang="en-US" sz="1700" dirty="0"/>
              <a:t>--):</a:t>
            </a:r>
          </a:p>
          <a:p>
            <a:pPr marL="0"/>
            <a:r>
              <a:rPr lang="en-US" sz="1700" dirty="0"/>
              <a:t> Rely on decomposition and synthesis.</a:t>
            </a:r>
          </a:p>
          <a:p>
            <a:pPr marL="0"/>
            <a:r>
              <a:rPr lang="en-US" sz="1700" dirty="0"/>
              <a:t> Limited by the inaccurate estimation of prior underwater conditions, often resulting in overall color casts or unnatural textures.</a:t>
            </a:r>
          </a:p>
          <a:p>
            <a:r>
              <a:rPr lang="en-US" sz="1700" b="1" dirty="0"/>
              <a:t>Deep Learning-Driven Methods (e.g., GAN-RS, Water-Net):</a:t>
            </a:r>
          </a:p>
          <a:p>
            <a:pPr marL="0"/>
            <a:r>
              <a:rPr lang="en-US" sz="1700" b="1" dirty="0"/>
              <a:t>The Flaw:</a:t>
            </a:r>
            <a:r>
              <a:rPr lang="en-US" sz="1700" dirty="0"/>
              <a:t> These models are incredibly heavy (e.g., GAN-RS requires ~148M parameters).</a:t>
            </a:r>
          </a:p>
          <a:p>
            <a:pPr marL="0"/>
            <a:r>
              <a:rPr lang="en-US" sz="1700" b="1" dirty="0"/>
              <a:t>The Result:</a:t>
            </a:r>
            <a:r>
              <a:rPr lang="en-US" sz="1700" dirty="0"/>
              <a:t> They are highly ill-suited for deployment on the constrained edge hardware of underwater ROVs.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121662"/>
            <a:ext cx="109087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14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41BEA-53A0-2229-4B28-EDDB8B11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Proposed Solution: The "Boths"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8876C-11B2-BEB5-84CC-0043AD4F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320412"/>
            <a:ext cx="10058400" cy="38517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Our Objective: </a:t>
            </a:r>
            <a:r>
              <a:rPr lang="en-US" dirty="0"/>
              <a:t>Implement the "Boths" architecture—a super lightweight neural network explicitly designed for ROV deployment.</a:t>
            </a:r>
          </a:p>
          <a:p>
            <a:r>
              <a:rPr lang="en-US" b="1" dirty="0"/>
              <a:t>Key Advantage:</a:t>
            </a:r>
            <a:r>
              <a:rPr lang="en-US" dirty="0"/>
              <a:t> Operates with only 0.0064 M parameters vastly outperforming existing SOTA models in efficiency.</a:t>
            </a:r>
          </a:p>
          <a:p>
            <a:r>
              <a:rPr lang="en-US" b="1" dirty="0"/>
              <a:t>Core Architectural Philosophy:</a:t>
            </a:r>
            <a:r>
              <a:rPr lang="en-US" dirty="0"/>
              <a:t> The network solves the degradation problem across three distinct dualities:</a:t>
            </a:r>
          </a:p>
          <a:p>
            <a:pPr marL="0"/>
            <a:r>
              <a:rPr lang="en-US" dirty="0"/>
              <a:t>	</a:t>
            </a:r>
            <a:r>
              <a:rPr lang="en-US" b="1" dirty="0"/>
              <a:t>1.</a:t>
            </a:r>
            <a:r>
              <a:rPr lang="en-US" dirty="0"/>
              <a:t> Structure vs. Detail Features</a:t>
            </a:r>
          </a:p>
          <a:p>
            <a:pPr marL="0"/>
            <a:r>
              <a:rPr lang="en-US" dirty="0"/>
              <a:t>	</a:t>
            </a:r>
            <a:r>
              <a:rPr lang="en-US" b="1" dirty="0"/>
              <a:t>2.</a:t>
            </a:r>
            <a:r>
              <a:rPr lang="en-US" dirty="0"/>
              <a:t> Pixel vs. Channel Dimensions</a:t>
            </a:r>
          </a:p>
          <a:p>
            <a:pPr marL="0"/>
            <a:r>
              <a:rPr lang="en-US" dirty="0"/>
              <a:t>	</a:t>
            </a:r>
            <a:r>
              <a:rPr lang="en-US" b="1" dirty="0"/>
              <a:t>3.</a:t>
            </a:r>
            <a:r>
              <a:rPr lang="en-US" dirty="0"/>
              <a:t> High vs. Low-Frequency Information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95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1B27-D259-74A5-780A-3FB4A9BC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Architecture Image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D9691-24B6-CD09-4739-9B8BB2D68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DE4E6-5539-2E5F-0412-FC9FF0BD0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103120"/>
            <a:ext cx="1005840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36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3ACD-A568-A397-01EF-8877F70C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Architecture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99CA6-751A-8DD4-83ED-4A2884131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 r="12675" b="-2"/>
          <a:stretch>
            <a:fillRect/>
          </a:stretch>
        </p:blipFill>
        <p:spPr>
          <a:xfrm>
            <a:off x="2517057" y="2265037"/>
            <a:ext cx="7010401" cy="390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3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DEEC4A-B554-43FA-048D-FD3D5C5F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Innovation 1 - Structure &amp; Detail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CE7D94-A5C2-1C11-386D-F16BE40DB80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69848" y="2320412"/>
                <a:ext cx="10058400" cy="3851787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sz="1700" b="1" dirty="0"/>
                  <a:t>Biological Inspiration: </a:t>
                </a:r>
                <a:r>
                  <a:rPr lang="en-US" sz="1700" dirty="0"/>
                  <a:t>Mimics midget and parasol retinal cells using two dilated convolutions (d1 and d2).</a:t>
                </a:r>
              </a:p>
              <a:p>
                <a:r>
                  <a:rPr lang="en-US" sz="1700" b="1" dirty="0"/>
                  <a:t>Mathematical Formulation:</a:t>
                </a:r>
              </a:p>
              <a:p>
                <a:pPr marL="0"/>
                <a:r>
                  <a:rPr lang="en-US" sz="1700" dirty="0"/>
                  <a:t>	</a:t>
                </a:r>
                <a:r>
                  <a:rPr lang="en-US" sz="1700" b="1" dirty="0"/>
                  <a:t>The Guided Map (D</a:t>
                </a:r>
                <a:r>
                  <a:rPr lang="en-US" sz="1700" b="1" baseline="-25000" dirty="0"/>
                  <a:t>g</a:t>
                </a:r>
                <a:r>
                  <a:rPr lang="en-US" sz="1700" b="1" dirty="0"/>
                  <a:t>):</a:t>
                </a:r>
                <a:r>
                  <a:rPr lang="en-US" sz="1700" dirty="0"/>
                  <a:t> Generates a probabilistic mask by subtracting the two 	convolutional views:</a:t>
                </a:r>
              </a:p>
              <a:p>
                <a:pPr marL="0"/>
                <a:r>
                  <a:rPr lang="en-US" sz="1700" dirty="0"/>
                  <a:t>			 D</a:t>
                </a:r>
                <a:r>
                  <a:rPr lang="en-US" sz="1700" baseline="-25000" dirty="0"/>
                  <a:t>g</a:t>
                </a:r>
                <a:r>
                  <a:rPr lang="en-US" sz="1700" dirty="0"/>
                  <a:t>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700" i="1" baseline="-25000">
                                    <a:latin typeface="Cambria Math" panose="02040503050406030204" pitchFamily="18" charset="0"/>
                                  </a:rPr>
                                  <m:t>𝑅𝐺𝐵</m:t>
                                </m:r>
                              </m:e>
                            </m:d>
                          </m:e>
                        </m:d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700" i="1" baseline="-25000">
                                    <a:latin typeface="Cambria Math" panose="02040503050406030204" pitchFamily="18" charset="0"/>
                                  </a:rPr>
                                  <m:t>𝑅𝐺𝐵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sz="1700" dirty="0"/>
              </a:p>
              <a:p>
                <a:pPr marL="0"/>
                <a:r>
                  <a:rPr lang="en-US" sz="1700" dirty="0"/>
                  <a:t>	</a:t>
                </a:r>
                <a:r>
                  <a:rPr lang="en-US" sz="1700" b="1" dirty="0"/>
                  <a:t>The Detail Map (</a:t>
                </a:r>
                <a:r>
                  <a:rPr lang="en-US" sz="1700" b="1" dirty="0" err="1"/>
                  <a:t>A</a:t>
                </a:r>
                <a:r>
                  <a:rPr lang="en-US" sz="1700" b="1" baseline="-25000" dirty="0" err="1"/>
                  <a:t>det</a:t>
                </a:r>
                <a:r>
                  <a:rPr lang="en-US" sz="1700" b="1" dirty="0"/>
                  <a:t>):</a:t>
                </a:r>
                <a:r>
                  <a:rPr lang="en-US" sz="1700" dirty="0"/>
                  <a:t> Extracts high-contrast textures:</a:t>
                </a:r>
              </a:p>
              <a:p>
                <a:pPr marL="0"/>
                <a:r>
                  <a:rPr lang="en-US" sz="1700" dirty="0"/>
                  <a:t>	  	</a:t>
                </a:r>
                <a:r>
                  <a:rPr lang="en-US" sz="1700" dirty="0" err="1"/>
                  <a:t>A</a:t>
                </a:r>
                <a:r>
                  <a:rPr lang="en-US" sz="1700" baseline="-25000" dirty="0" err="1"/>
                  <a:t>det</a:t>
                </a:r>
                <a:r>
                  <a:rPr lang="en-US" sz="1700" dirty="0"/>
                  <a:t> = D</a:t>
                </a:r>
                <a:r>
                  <a:rPr lang="en-US" sz="1700" baseline="-25000" dirty="0"/>
                  <a:t>g</a:t>
                </a:r>
                <a:r>
                  <a:rPr lang="en-US" sz="1700" dirty="0"/>
                  <a:t> x 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700" i="1" baseline="-25000">
                        <a:latin typeface="Cambria Math" panose="02040503050406030204" pitchFamily="18" charset="0"/>
                      </a:rPr>
                      <m:t>𝑅𝐺𝐵</m:t>
                    </m:r>
                  </m:oMath>
                </a14:m>
                <a:endParaRPr lang="en-US" sz="1700" dirty="0"/>
              </a:p>
              <a:p>
                <a:pPr marL="0"/>
                <a:r>
                  <a:rPr lang="en-US" sz="1700" dirty="0"/>
                  <a:t>	</a:t>
                </a:r>
                <a:r>
                  <a:rPr lang="en-US" sz="1700" b="1" dirty="0"/>
                  <a:t>The Structure Map (</a:t>
                </a:r>
                <a:r>
                  <a:rPr lang="en-US" sz="1700" b="1" dirty="0" err="1"/>
                  <a:t>A</a:t>
                </a:r>
                <a:r>
                  <a:rPr lang="en-US" sz="1700" b="1" baseline="-25000" dirty="0" err="1"/>
                  <a:t>str</a:t>
                </a:r>
                <a:r>
                  <a:rPr lang="en-US" sz="1700" b="1" dirty="0"/>
                  <a:t>):</a:t>
                </a:r>
                <a:r>
                  <a:rPr lang="en-US" sz="1700" dirty="0"/>
                  <a:t> Isolates the broad, underlying shapes:</a:t>
                </a:r>
              </a:p>
              <a:p>
                <a:pPr marL="0"/>
                <a:r>
                  <a:rPr lang="en-US" sz="1700" dirty="0"/>
                  <a:t>	  </a:t>
                </a:r>
                <a:r>
                  <a:rPr lang="en-US" sz="1700" dirty="0" err="1"/>
                  <a:t>A</a:t>
                </a:r>
                <a:r>
                  <a:rPr lang="en-US" sz="1700" baseline="-25000" dirty="0" err="1"/>
                  <a:t>str</a:t>
                </a:r>
                <a:r>
                  <a:rPr lang="en-US" sz="1700" dirty="0"/>
                  <a:t> =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700" i="1" baseline="-25000">
                        <a:latin typeface="Cambria Math" panose="02040503050406030204" pitchFamily="18" charset="0"/>
                      </a:rPr>
                      <m:t>𝑅𝐺𝐵</m:t>
                    </m:r>
                    <m:r>
                      <a:rPr lang="en-US" sz="17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dirty="0"/>
                  <a:t>-  </a:t>
                </a:r>
                <a:r>
                  <a:rPr lang="en-US" sz="1700" dirty="0" err="1"/>
                  <a:t>A</a:t>
                </a:r>
                <a:r>
                  <a:rPr lang="en-US" sz="1700" baseline="-25000" dirty="0" err="1"/>
                  <a:t>det</a:t>
                </a:r>
                <a:r>
                  <a:rPr lang="en-US" sz="1700" dirty="0"/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CE7D94-A5C2-1C11-386D-F16BE40DB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69848" y="2320412"/>
                <a:ext cx="10058400" cy="3851787"/>
              </a:xfrm>
              <a:blipFill>
                <a:blip r:embed="rId6"/>
                <a:stretch>
                  <a:fillRect l="-121" t="-12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487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1B3EA-29C8-96E9-D46C-25D8A154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Innovation 2 - 3-D Attention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3F5345B-47AB-E839-D44C-45FD494CE5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69848" y="2320412"/>
                <a:ext cx="10058400" cy="3851787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b="1" dirty="0"/>
                  <a:t>The Concept: </a:t>
                </a:r>
                <a:r>
                  <a:rPr lang="en-US" dirty="0"/>
                  <a:t>Overcomes traditional attention limits by evaluating pixel and channel dimensions simultaneously using a parameter-free energy function (</a:t>
                </a:r>
                <a:r>
                  <a:rPr lang="en-US" dirty="0" err="1"/>
                  <a:t>SimAM</a:t>
                </a:r>
                <a:r>
                  <a:rPr lang="en-US" dirty="0"/>
                  <a:t>).</a:t>
                </a:r>
              </a:p>
              <a:p>
                <a:r>
                  <a:rPr lang="en-US" b="1" dirty="0"/>
                  <a:t>Mathematical Formulation:</a:t>
                </a:r>
              </a:p>
              <a:p>
                <a:r>
                  <a:rPr lang="en-US" dirty="0"/>
                  <a:t>	</a:t>
                </a:r>
                <a:r>
                  <a:rPr lang="en-US" b="1" dirty="0"/>
                  <a:t>Neuronal Importance:</a:t>
                </a:r>
                <a:r>
                  <a:rPr lang="en-US" dirty="0"/>
                  <a:t> Calculates the minimal energy (e</a:t>
                </a:r>
                <a:r>
                  <a:rPr lang="en-US" baseline="-25000" dirty="0"/>
                  <a:t>t</a:t>
                </a:r>
                <a:r>
                  <a:rPr lang="en-US" dirty="0"/>
                  <a:t>*) of each pixel to 	find distinct features:</a:t>
                </a:r>
              </a:p>
              <a:p>
                <a:pPr marL="0" indent="0">
                  <a:buNone/>
                </a:pPr>
                <a:r>
                  <a:rPr lang="en-US" dirty="0"/>
                  <a:t>		      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∗=4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	</a:t>
                </a:r>
                <a:r>
                  <a:rPr lang="en-US" b="1" dirty="0"/>
                  <a:t>Feature Refinement:</a:t>
                </a:r>
                <a:r>
                  <a:rPr lang="en-US" dirty="0"/>
                  <a:t> The 3-D attention weights (</a:t>
                </a:r>
                <a:r>
                  <a:rPr lang="en-US" dirty="0" err="1"/>
                  <a:t>W</a:t>
                </a:r>
                <a:r>
                  <a:rPr lang="en-US" baseline="-25000" dirty="0" err="1"/>
                  <a:t>str</a:t>
                </a:r>
                <a:r>
                  <a:rPr lang="en-US" dirty="0"/>
                  <a:t>) from the structure 	map guide the detail map:</a:t>
                </a:r>
              </a:p>
              <a:p>
                <a:pPr marL="0" indent="0">
                  <a:buNone/>
                </a:pPr>
                <a:r>
                  <a:rPr lang="en-US" dirty="0"/>
                  <a:t>	  </a:t>
                </a:r>
                <a:r>
                  <a:rPr lang="en-US"/>
                  <a:t>	         R</a:t>
                </a:r>
                <a:r>
                  <a:rPr lang="en-US" baseline="-25000"/>
                  <a:t>I3A</a:t>
                </a:r>
                <a:r>
                  <a:rPr lang="en-US"/>
                  <a:t> </a:t>
                </a:r>
                <a:r>
                  <a:rPr lang="en-US" dirty="0"/>
                  <a:t>= </a:t>
                </a:r>
                <a:r>
                  <a:rPr lang="en-US" dirty="0" err="1"/>
                  <a:t>W</a:t>
                </a:r>
                <a:r>
                  <a:rPr lang="en-US" baseline="-25000" dirty="0" err="1"/>
                  <a:t>str</a:t>
                </a:r>
                <a:r>
                  <a:rPr lang="en-US" dirty="0"/>
                  <a:t> x </a:t>
                </a:r>
                <a:r>
                  <a:rPr lang="en-US" dirty="0" err="1"/>
                  <a:t>A</a:t>
                </a:r>
                <a:r>
                  <a:rPr lang="en-US" baseline="-25000" dirty="0" err="1"/>
                  <a:t>det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3F5345B-47AB-E839-D44C-45FD494CE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69848" y="2320412"/>
                <a:ext cx="10058400" cy="3851787"/>
              </a:xfrm>
              <a:blipFill>
                <a:blip r:embed="rId6"/>
                <a:stretch>
                  <a:fillRect l="-303" t="-17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09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7EA36-43B6-AEEA-2456-CA3F31827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Innovation 3 - The Fusion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D382-7813-EB72-71C3-E001F1544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320412"/>
            <a:ext cx="10058400" cy="38517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The Concept: </a:t>
            </a:r>
            <a:r>
              <a:rPr lang="en-US" dirty="0"/>
              <a:t>Instead of blindly adding feature maps together, this module intelligently combines the outputs from the three cascaded levels of the attention block.</a:t>
            </a:r>
          </a:p>
          <a:p>
            <a:r>
              <a:rPr lang="en-US" b="1" dirty="0"/>
              <a:t>Mathematical Formulation:</a:t>
            </a:r>
          </a:p>
          <a:p>
            <a:pPr lvl="1"/>
            <a:r>
              <a:rPr lang="en-US" b="1" dirty="0"/>
              <a:t>Concatenation:</a:t>
            </a:r>
            <a:r>
              <a:rPr lang="en-US" dirty="0"/>
              <a:t> Stacks the three outputs into a single tensor:</a:t>
            </a:r>
          </a:p>
          <a:p>
            <a:pPr marL="274320" lvl="1"/>
            <a:r>
              <a:rPr lang="en-US" dirty="0"/>
              <a:t>	  </a:t>
            </a:r>
            <a:r>
              <a:rPr lang="en-US"/>
              <a:t>O</a:t>
            </a:r>
            <a:r>
              <a:rPr lang="en-US" baseline="-25000"/>
              <a:t>concat</a:t>
            </a:r>
            <a:r>
              <a:rPr lang="en-US" dirty="0"/>
              <a:t> = C[R1, R2, R3]</a:t>
            </a:r>
            <a:endParaRPr lang="en-US"/>
          </a:p>
          <a:p>
            <a:pPr lvl="1"/>
            <a:r>
              <a:rPr lang="en-US" b="1" dirty="0"/>
              <a:t>Weighted Fusion:</a:t>
            </a:r>
            <a:r>
              <a:rPr lang="en-US" dirty="0"/>
              <a:t> Compresses the channels to generate weight matrices(by 1*1 convolution(k=3 x 3, d=1, padding=1,C</a:t>
            </a:r>
            <a:r>
              <a:rPr lang="en-US" baseline="-25000" dirty="0"/>
              <a:t>out </a:t>
            </a:r>
            <a:r>
              <a:rPr lang="en-US" dirty="0"/>
              <a:t>=3), applying them via a Hadamard product:</a:t>
            </a:r>
          </a:p>
          <a:p>
            <a:pPr marL="274320" lvl="1"/>
            <a:r>
              <a:rPr lang="en-US" dirty="0"/>
              <a:t>	  F</a:t>
            </a:r>
            <a:r>
              <a:rPr lang="en-US" baseline="-25000" dirty="0"/>
              <a:t>I3A</a:t>
            </a:r>
            <a:r>
              <a:rPr lang="en-US" dirty="0"/>
              <a:t> = W1 * R1 + W2 * R2 + W3 * R3</a:t>
            </a: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068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0985-BDC2-DD07-0C5B-EF0B5B8E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Innovation 4 - Wavelet MSE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4A0570B-94C6-B899-854C-C0C31C9F40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69848" y="2320412"/>
                <a:ext cx="10058400" cy="3851787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b="1" dirty="0"/>
                  <a:t>The Concept: </a:t>
                </a:r>
                <a:r>
                  <a:rPr lang="en-US" dirty="0"/>
                  <a:t>Standard MSE ignores crisp edges. We implement a custom loss function using Discrete Wavelet Transforms (DWT) to split the image.</a:t>
                </a:r>
              </a:p>
              <a:p>
                <a:pPr marL="91440" lvl="1" indent="0">
                  <a:buNone/>
                </a:pPr>
                <a:r>
                  <a:rPr lang="en-US"/>
                  <a:t>	</a:t>
                </a:r>
                <a:r>
                  <a:rPr lang="en-US" b="1"/>
                  <a:t>DWT Split:</a:t>
                </a:r>
                <a:r>
                  <a:rPr lang="en-US"/>
                  <a:t> (M)</a:t>
                </a:r>
                <a:r>
                  <a:rPr lang="en-US" baseline="30000"/>
                  <a:t>LL</a:t>
                </a:r>
                <a:r>
                  <a:rPr lang="en-US"/>
                  <a:t>, (M)</a:t>
                </a:r>
                <a:r>
                  <a:rPr lang="en-US" baseline="30000"/>
                  <a:t>LH</a:t>
                </a:r>
                <a:r>
                  <a:rPr lang="en-US"/>
                  <a:t>, (M)</a:t>
                </a:r>
                <a:r>
                  <a:rPr lang="en-US" baseline="30000"/>
                  <a:t>HL</a:t>
                </a:r>
                <a:r>
                  <a:rPr lang="en-US"/>
                  <a:t>, (M)</a:t>
                </a:r>
                <a:r>
                  <a:rPr lang="en-US" baseline="30000"/>
                  <a:t>HH</a:t>
                </a:r>
                <a:r>
                  <a:rPr lang="en-US"/>
                  <a:t> = DWT(M)</a:t>
                </a:r>
              </a:p>
              <a:p>
                <a:pPr marL="274320" lvl="1"/>
                <a:endParaRPr lang="en-US" dirty="0"/>
              </a:p>
              <a:p>
                <a:pPr marL="274320" lvl="1"/>
                <a:endParaRPr lang="en-US" dirty="0"/>
              </a:p>
              <a:p>
                <a:pPr marL="0" indent="0">
                  <a:buNone/>
                </a:pPr>
                <a:r>
                  <a:rPr lang="en-US" b="1"/>
                  <a:t>Asynchronous Training Strategy:</a:t>
                </a:r>
              </a:p>
              <a:p>
                <a:pPr marL="274320" lvl="1"/>
                <a:r>
                  <a:rPr lang="en-US" dirty="0"/>
                  <a:t>	</a:t>
                </a:r>
                <a:r>
                  <a:rPr lang="en-US" b="1" dirty="0"/>
                  <a:t>Stage 1 (Structure Focus):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n-US" dirty="0"/>
              </a:p>
              <a:p>
                <a:pPr marL="274320" lvl="1"/>
                <a:r>
                  <a:rPr lang="en-US" dirty="0"/>
                  <a:t>	</a:t>
                </a:r>
                <a:r>
                  <a:rPr lang="en-US" b="1" dirty="0"/>
                  <a:t>Stage 2 (Color/Content Focus):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1" baseline="-25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4A0570B-94C6-B899-854C-C0C31C9F4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69848" y="2320412"/>
                <a:ext cx="10058400" cy="3851787"/>
              </a:xfrm>
              <a:blipFill>
                <a:blip r:embed="rId2"/>
                <a:stretch>
                  <a:fillRect l="-667" t="-17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7765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85BC-8A56-8F58-9983-1BCCFED3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Implementation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C7805-9F9B-A635-5A8A-D306551AD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320412"/>
            <a:ext cx="10058400" cy="38517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Dataset : </a:t>
            </a:r>
            <a:r>
              <a:rPr lang="en-US" dirty="0"/>
              <a:t> UIEB (Underwater Image Enhancement Benchmark)</a:t>
            </a:r>
          </a:p>
          <a:p>
            <a:r>
              <a:rPr lang="en-US" b="1" dirty="0"/>
              <a:t>Evaluation Metrics:</a:t>
            </a:r>
          </a:p>
          <a:p>
            <a:pPr marL="274320" lvl="1"/>
            <a:r>
              <a:rPr lang="en-US" dirty="0"/>
              <a:t> PSNR (Peak Signal to Noise Ratio) and SSIM (Structure Similarity Index Measure).</a:t>
            </a:r>
          </a:p>
          <a:p>
            <a:pPr marL="274320" lvl="1"/>
            <a:endParaRPr lang="en-US" dirty="0"/>
          </a:p>
          <a:p>
            <a:pPr marL="9144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D7AA7-BBC2-59CD-AB17-95461F566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7" y="3972232"/>
            <a:ext cx="2933216" cy="7828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73DB1B-EB8B-AE33-3C0D-4907185AB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128" y="3893574"/>
            <a:ext cx="4075691" cy="96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4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8318-25F0-4FA0-AC25-2A7C3BCA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Project Deliverables</a:t>
            </a: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D0F4B921-5DD1-BFE0-A044-439A6C6FD6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573442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5872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CC41-CBB3-C01E-0F28-CC6A56AD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21654"/>
          </a:xfrm>
        </p:spPr>
        <p:txBody>
          <a:bodyPr>
            <a:normAutofit fontScale="90000"/>
          </a:bodyPr>
          <a:lstStyle/>
          <a:p>
            <a:r>
              <a:rPr lang="en-US" dirty="0"/>
              <a:t>Enhanced Images Comparison</a:t>
            </a:r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8927188-F630-E6D4-A5B9-8156A03A6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843" y="1195754"/>
            <a:ext cx="6250075" cy="546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61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0CD8-9754-0CAA-158D-DF649B28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03A8C15-1560-7C10-BBBF-F2FBFD1B3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720710"/>
              </p:ext>
            </p:extLst>
          </p:nvPr>
        </p:nvGraphicFramePr>
        <p:xfrm>
          <a:off x="1069975" y="2120900"/>
          <a:ext cx="10058394" cy="2829068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352798">
                  <a:extLst>
                    <a:ext uri="{9D8B030D-6E8A-4147-A177-3AD203B41FA5}">
                      <a16:colId xmlns:a16="http://schemas.microsoft.com/office/drawing/2014/main" val="3938032225"/>
                    </a:ext>
                  </a:extLst>
                </a:gridCol>
                <a:gridCol w="3352798">
                  <a:extLst>
                    <a:ext uri="{9D8B030D-6E8A-4147-A177-3AD203B41FA5}">
                      <a16:colId xmlns:a16="http://schemas.microsoft.com/office/drawing/2014/main" val="3994616547"/>
                    </a:ext>
                  </a:extLst>
                </a:gridCol>
                <a:gridCol w="3352798">
                  <a:extLst>
                    <a:ext uri="{9D8B030D-6E8A-4147-A177-3AD203B41FA5}">
                      <a16:colId xmlns:a16="http://schemas.microsoft.com/office/drawing/2014/main" val="1827394394"/>
                    </a:ext>
                  </a:extLst>
                </a:gridCol>
              </a:tblGrid>
              <a:tr h="547247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Metric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Model 1(Boths Model)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Model 2(trained only with WMSE loss )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61771"/>
                  </a:ext>
                </a:extLst>
              </a:tr>
              <a:tr h="547247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MSE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269.8966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281.2879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107915"/>
                  </a:ext>
                </a:extLst>
              </a:tr>
              <a:tr h="547247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RMSE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15.0287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</a:rPr>
                        <a:t>15.4008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320030"/>
                  </a:ext>
                </a:extLst>
              </a:tr>
              <a:tr h="54724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PSNR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25.3189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</a:rPr>
                        <a:t>25.0728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82692"/>
                  </a:ext>
                </a:extLst>
              </a:tr>
              <a:tr h="54724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SSIM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0.9332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0.9325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3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556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4189-6E3C-D67F-680A-7FF50B81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7" y="1130710"/>
            <a:ext cx="6371304" cy="3481483"/>
          </a:xfrm>
        </p:spPr>
        <p:txBody>
          <a:bodyPr>
            <a:noAutofit/>
          </a:bodyPr>
          <a:lstStyle/>
          <a:p>
            <a:pPr algn="ctr"/>
            <a:r>
              <a:rPr lang="en-US" sz="10300" dirty="0"/>
              <a:t>Thank you</a:t>
            </a:r>
            <a:endParaRPr lang="en-IN" sz="10300" dirty="0"/>
          </a:p>
        </p:txBody>
      </p:sp>
    </p:spTree>
    <p:extLst>
      <p:ext uri="{BB962C8B-B14F-4D97-AF65-F5344CB8AC3E}">
        <p14:creationId xmlns:p14="http://schemas.microsoft.com/office/powerpoint/2010/main" val="2379011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186</TotalTime>
  <Words>814</Words>
  <Application>Microsoft Office PowerPoint</Application>
  <PresentationFormat>Widescreen</PresentationFormat>
  <Paragraphs>84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Calibri</vt:lpstr>
      <vt:lpstr>Cambria Math</vt:lpstr>
      <vt:lpstr>Rockwell</vt:lpstr>
      <vt:lpstr>Rockwell Condensed</vt:lpstr>
      <vt:lpstr>Rockwell Extra Bold</vt:lpstr>
      <vt:lpstr>Wingdings</vt:lpstr>
      <vt:lpstr>Wood Type</vt:lpstr>
      <vt:lpstr>"Boths": A Super Lightweight Network for Underwater Image Enhancement</vt:lpstr>
      <vt:lpstr>The Challenge of Underwater Vision</vt:lpstr>
      <vt:lpstr>Limitations of Current Solutions</vt:lpstr>
      <vt:lpstr>Proposed Solution: The "Boths" Network</vt:lpstr>
      <vt:lpstr>Architecture Image</vt:lpstr>
      <vt:lpstr>Architecture Image</vt:lpstr>
      <vt:lpstr>Innovation 1 - Structure &amp; Detail Decomposition</vt:lpstr>
      <vt:lpstr>Innovation 2 - 3-D Attention Learning</vt:lpstr>
      <vt:lpstr>Innovation 3 - The Fusion Module</vt:lpstr>
      <vt:lpstr>Innovation 4 - Wavelet MSE Loss</vt:lpstr>
      <vt:lpstr>Implementation Strategy</vt:lpstr>
      <vt:lpstr>Project Deliverables</vt:lpstr>
      <vt:lpstr>Enhanced Images Comparison</vt:lpstr>
      <vt:lpstr>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varshith sanka</dc:creator>
  <cp:lastModifiedBy>varshith sanka</cp:lastModifiedBy>
  <cp:revision>4</cp:revision>
  <dcterms:created xsi:type="dcterms:W3CDTF">2026-03-17T21:26:51Z</dcterms:created>
  <dcterms:modified xsi:type="dcterms:W3CDTF">2026-08-31T13:11:12Z</dcterms:modified>
</cp:coreProperties>
</file>